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8FAFC"/>
                </a:solidFill>
                <a:latin typeface="Arial"/>
              </a:defRPr>
            </a:pPr>
            <a:r>
              <a:t>SECURE AICTE MEETING &amp; GOVERNANCE PLATFORM</a:t>
            </a:r>
          </a:p>
          <a:p>
            <a:br/>
            <a:pPr>
              <a:defRPr sz="1600">
                <a:solidFill>
                  <a:srgbClr val="60A5FA"/>
                </a:solidFill>
                <a:latin typeface="Arial"/>
              </a:defRPr>
            </a:pPr>
            <a:r>
              <a:t>Module M6: Audit + Attendance + Reports + Institutional Memory</a:t>
            </a:r>
            <a:br/>
            <a:br/>
            <a:r>
              <a:t>Detailed Technical Architectures, Database Dictionary, and API Structures</a:t>
            </a:r>
            <a:br/>
            <a:r>
              <a:t>Smart India Hackathon Presentation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0A5FA"/>
                </a:solidFill>
                <a:latin typeface="Arial"/>
              </a:defRPr>
            </a:pPr>
            <a:r>
              <a:t>Module M6 Scope &amp; Platform Role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8FAFC"/>
                </a:solidFill>
                <a:latin typeface="Arial"/>
              </a:defRPr>
            </a:pPr>
            <a:r>
              <a:t>Centralized Auditing &amp; Governance Cell</a:t>
            </a:r>
          </a:p>
          <a:p>
            <a:pPr>
              <a:lnSpc>
                <a:spcPct val="120000"/>
              </a:lnSpc>
              <a:defRPr sz="1500">
                <a:solidFill>
                  <a:srgbClr val="94A3B8"/>
                </a:solidFill>
                <a:latin typeface="Arial"/>
              </a:defRPr>
            </a:pPr>
            <a:r>
              <a:t>M6 tracks, parses, and acts as the central logs ledger for all governance operations (M1 Auth, M2 Meetings, M3 Files, M4 Blockchain, M5 AI Transcripts).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64592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8FAFC"/>
                </a:solidFill>
                <a:latin typeface="Arial"/>
              </a:defRPr>
            </a:pPr>
            <a:r>
              <a:t>Core System Capabilities</a:t>
            </a:r>
          </a:p>
          <a:p>
            <a:pPr>
              <a:lnSpc>
                <a:spcPct val="120000"/>
              </a:lnSpc>
              <a:defRPr sz="1500">
                <a:solidFill>
                  <a:srgbClr val="94A3B8"/>
                </a:solidFill>
                <a:latin typeface="Arial"/>
              </a:defRPr>
            </a:pPr>
            <a:r>
              <a:t>• Compliance Auditing: Ingests logins, permission modifications, and file queries.</a:t>
            </a:r>
            <a:br/>
            <a:r>
              <a:t>• Attendance Analytics: Computes arrival, exit, and connection durations via webhooks.</a:t>
            </a:r>
            <a:br/>
            <a:r>
              <a:t>• Reports Compiler: Parametric config engine committing report hashes to blockchain.</a:t>
            </a:r>
            <a:br/>
            <a:r>
              <a:t>• SOC Threat Center: Monitors credential logs and quarantines malicious IP addresses.</a:t>
            </a:r>
            <a:br/>
            <a:r>
              <a:t>• Memory Query: Role-based historic searches powered by PostgreSQL GIN indexes.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2179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Slide 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0A5FA"/>
                </a:solidFill>
                <a:latin typeface="Arial"/>
              </a:defRPr>
            </a:pPr>
            <a:r>
              <a:t>Data Ingestion &amp; Integration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8FAFC"/>
                </a:solidFill>
                <a:latin typeface="Arial"/>
              </a:defRPr>
            </a:pPr>
            <a:r>
              <a:t>Inbound Integrations (M1, M2, M3, M5)</a:t>
            </a:r>
          </a:p>
          <a:p>
            <a:pPr>
              <a:lnSpc>
                <a:spcPct val="120000"/>
              </a:lnSpc>
              <a:defRPr sz="1500">
                <a:solidFill>
                  <a:srgbClr val="94A3B8"/>
                </a:solidFill>
                <a:latin typeface="Arial"/>
              </a:defRPr>
            </a:pPr>
            <a:r>
              <a:t>• Module M1 (Auth): Transmits user login metadata, client IPs, and active session roles.</a:t>
            </a:r>
            <a:br/>
            <a:r>
              <a:t>• Module M2 (Meetings): Jitsi webhook integration pushes join/leave connection signals.</a:t>
            </a:r>
            <a:br/>
            <a:r>
              <a:t>• Module M3 (Files): Ingests audits on document downloads and access updates.</a:t>
            </a:r>
            <a:br/>
            <a:r>
              <a:t>• Module M5 (AI): Automatically maps summarized transcripts to memory indices.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64592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8FAFC"/>
                </a:solidFill>
                <a:latin typeface="Arial"/>
              </a:defRPr>
            </a:pPr>
            <a:r>
              <a:t>Outbound &amp; Verification Hooks (M4)</a:t>
            </a:r>
          </a:p>
          <a:p>
            <a:pPr>
              <a:lnSpc>
                <a:spcPct val="120000"/>
              </a:lnSpc>
              <a:defRPr sz="1500">
                <a:solidFill>
                  <a:srgbClr val="94A3B8"/>
                </a:solidFill>
                <a:latin typeface="Arial"/>
              </a:defRPr>
            </a:pPr>
            <a:r>
              <a:t>• Module M4 (Ledger): Commits SHA-256 report integrity checksum hashes directly to private blockchain blocks, retrieving verification seals (hashes) to ensure document tamper-resistance.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2179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Slide 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0A5FA"/>
                </a:solidFill>
                <a:latin typeface="Arial"/>
              </a:defRPr>
            </a:pPr>
            <a:r>
              <a:t>Database Schema Design &amp; Indexes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8FAFC"/>
                </a:solidFill>
                <a:latin typeface="Arial"/>
              </a:defRPr>
            </a:pPr>
            <a:r>
              <a:t>Relational Tables Structure (PostgreSQL)</a:t>
            </a:r>
          </a:p>
          <a:p>
            <a:pPr>
              <a:lnSpc>
                <a:spcPct val="120000"/>
              </a:lnSpc>
              <a:defRPr sz="1500">
                <a:solidFill>
                  <a:srgbClr val="94A3B8"/>
                </a:solidFill>
                <a:latin typeface="Arial"/>
              </a:defRPr>
            </a:pPr>
            <a:r>
              <a:t>• audit_logs: Stores actor_username, action description, module source, client IP, and severity.</a:t>
            </a:r>
            <a:br/>
            <a:r>
              <a:t>• attendance: Stores join/leave times, computed active durations, and status badges.</a:t>
            </a:r>
            <a:br/>
            <a:r>
              <a:t>• compliance_reports: Houses metadata parameters and blockchain transaction hashes.</a:t>
            </a:r>
            <a:br/>
            <a:r>
              <a:t>• notifications: Manages priority-based alarms (LOW, MEDIUM, HIGH, CRITICAL).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64592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8FAFC"/>
                </a:solidFill>
                <a:latin typeface="Arial"/>
              </a:defRPr>
            </a:pPr>
            <a:r>
              <a:t>Optimization &amp; Search Indexing Triggers</a:t>
            </a:r>
          </a:p>
          <a:p>
            <a:pPr>
              <a:lnSpc>
                <a:spcPct val="120000"/>
              </a:lnSpc>
              <a:defRPr sz="1500">
                <a:solidFill>
                  <a:srgbClr val="94A3B8"/>
                </a:solidFill>
                <a:latin typeface="Arial"/>
              </a:defRPr>
            </a:pPr>
            <a:r>
              <a:t>• tsvector search_vector: A calculated text vector combining titles, decisions, and actions.</a:t>
            </a:r>
            <a:br/>
            <a:r>
              <a:t>• GIN Indexing: Applied on search_vector to enable rapid full-text search matches.</a:t>
            </a:r>
            <a:br/>
            <a:r>
              <a:t>• Update Trigger: Run on inserts/updates to keep lexeme indices synced.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2179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Slide 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0A5FA"/>
                </a:solidFill>
                <a:latin typeface="Arial"/>
              </a:defRPr>
            </a:pPr>
            <a:r>
              <a:t>Core REST API Specs &amp; JSON Payloads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8FAFC"/>
                </a:solidFill>
                <a:latin typeface="Arial"/>
              </a:defRPr>
            </a:pPr>
            <a:r>
              <a:t>API Routes Mapping</a:t>
            </a:r>
          </a:p>
          <a:p>
            <a:pPr>
              <a:lnSpc>
                <a:spcPct val="120000"/>
              </a:lnSpc>
              <a:defRPr sz="1500">
                <a:solidFill>
                  <a:srgbClr val="94A3B8"/>
                </a:solidFill>
                <a:latin typeface="Arial"/>
              </a:defRPr>
            </a:pPr>
            <a:r>
              <a:t>• GET /api/audit-logs: Returns security logs with severity and user filters.</a:t>
            </a:r>
            <a:br/>
            <a:r>
              <a:t>• GET /api/attendance: Returns meeting participant logs and session percentages.</a:t>
            </a:r>
            <a:br/>
            <a:r>
              <a:t>• POST /api/reports/generate: Compiles logs, outputs PDF/CSV, and seals to ledger.</a:t>
            </a:r>
            <a:br/>
            <a:r>
              <a:t>• GET /api/memory/search?q=query: Queries FTS registry with active user role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64592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8FAFC"/>
                </a:solidFill>
                <a:latin typeface="Arial"/>
              </a:defRPr>
            </a:pPr>
            <a:r>
              <a:t>Sample Generated Report Schema</a:t>
            </a:r>
          </a:p>
          <a:p>
            <a:pPr>
              <a:lnSpc>
                <a:spcPct val="120000"/>
              </a:lnSpc>
              <a:defRPr sz="1500">
                <a:solidFill>
                  <a:srgbClr val="94A3B8"/>
                </a:solidFill>
                <a:latin typeface="Arial"/>
              </a:defRPr>
            </a:pPr>
            <a:r>
              <a:t>{</a:t>
            </a:r>
            <a:br/>
            <a:r>
              <a:t>  "id": "REP-2026-8941",</a:t>
            </a:r>
            <a:br/>
            <a:r>
              <a:t>  "type": "security",</a:t>
            </a:r>
            <a:br/>
            <a:r>
              <a:t>  "meetingId": "meet-001",</a:t>
            </a:r>
            <a:br/>
            <a:r>
              <a:t>  "timestamp": "2026-08-08T09:12:40Z",</a:t>
            </a:r>
            <a:br/>
            <a:r>
              <a:t>  "hash": "0x8a92fbcd9a928ef782bcf9287cba1192e8bf77a8"</a:t>
            </a:r>
            <a:br/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2179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Slide 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0A5FA"/>
                </a:solidFill>
                <a:latin typeface="Arial"/>
              </a:defRPr>
            </a:pPr>
            <a:r>
              <a:t>Attendance Webhook Mechanics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8FAFC"/>
                </a:solidFill>
                <a:latin typeface="Arial"/>
              </a:defRPr>
            </a:pPr>
            <a:r>
              <a:t>Connection Tracking &amp; Durations</a:t>
            </a:r>
          </a:p>
          <a:p>
            <a:pPr>
              <a:lnSpc>
                <a:spcPct val="120000"/>
              </a:lnSpc>
              <a:defRPr sz="1500">
                <a:solidFill>
                  <a:srgbClr val="94A3B8"/>
                </a:solidFill>
                <a:latin typeface="Arial"/>
              </a:defRPr>
            </a:pPr>
            <a:r>
              <a:t>Ingests Jitsi webhook triggers and updates the participant session log. Calculates duration: Duration = Leave Time - Join Time (expressed in minutes).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64592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8FAFC"/>
                </a:solidFill>
                <a:latin typeface="Arial"/>
              </a:defRPr>
            </a:pPr>
            <a:r>
              <a:t>Smart Status Badging Matrix</a:t>
            </a:r>
          </a:p>
          <a:p>
            <a:pPr>
              <a:lnSpc>
                <a:spcPct val="120000"/>
              </a:lnSpc>
              <a:defRPr sz="1500">
                <a:solidFill>
                  <a:srgbClr val="94A3B8"/>
                </a:solidFill>
                <a:latin typeface="Arial"/>
              </a:defRPr>
            </a:pPr>
            <a:r>
              <a:t>• Present: Logged in on-time and completed session.</a:t>
            </a:r>
            <a:br/>
            <a:r>
              <a:t>• Late: Logged in &gt; 5 minutes past scheduled start time.</a:t>
            </a:r>
            <a:br/>
            <a:r>
              <a:t>• Left Early: Disconnected before the meeting was formally adjourned.</a:t>
            </a:r>
            <a:br/>
            <a:r>
              <a:t>• Absent: Invitee record present in meeting but no connection logs found.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2179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Slide 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0A5FA"/>
                </a:solidFill>
                <a:latin typeface="Arial"/>
              </a:defRPr>
            </a:pPr>
            <a:r>
              <a:t>Security Audits &amp; SOC Remediations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8FAFC"/>
                </a:solidFill>
                <a:latin typeface="Arial"/>
              </a:defRPr>
            </a:pPr>
            <a:r>
              <a:t>Auditing Severity Categorization</a:t>
            </a:r>
          </a:p>
          <a:p>
            <a:pPr>
              <a:lnSpc>
                <a:spcPct val="120000"/>
              </a:lnSpc>
              <a:defRPr sz="1500">
                <a:solidFill>
                  <a:srgbClr val="94A3B8"/>
                </a:solidFill>
                <a:latin typeface="Arial"/>
              </a:defRPr>
            </a:pPr>
            <a:r>
              <a:t>• INFO: Normal operations (e.g. login success, file queries).</a:t>
            </a:r>
            <a:br/>
            <a:r>
              <a:t>• WARNING: Early triggers (e.g. leaving early, minor permission updates).</a:t>
            </a:r>
            <a:br/>
            <a:r>
              <a:t>• CRITICAL: Severe alerts (e.g. failed login limits, direct data download queries).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64592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8FAFC"/>
                </a:solidFill>
                <a:latin typeface="Arial"/>
              </a:defRPr>
            </a:pPr>
            <a:r>
              <a:t>SOC Automated Mitigation Protocols</a:t>
            </a:r>
          </a:p>
          <a:p>
            <a:pPr>
              <a:lnSpc>
                <a:spcPct val="120000"/>
              </a:lnSpc>
              <a:defRPr sz="1500">
                <a:solidFill>
                  <a:srgbClr val="94A3B8"/>
                </a:solidFill>
                <a:latin typeface="Arial"/>
              </a:defRPr>
            </a:pPr>
            <a:r>
              <a:t>• IP Quarantine: Blocks client IPs if 5 failed login attempts occur in 2 minutes.</a:t>
            </a:r>
            <a:br/>
            <a:r>
              <a:t>• Verification Modal: Compliance officers inspect logs and resolve alerts directly from UI.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2179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Slide 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0A5FA"/>
                </a:solidFill>
                <a:latin typeface="Arial"/>
              </a:defRPr>
            </a:pPr>
            <a:r>
              <a:t>Reports Engine &amp; Blockchain Sealing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8FAFC"/>
                </a:solidFill>
                <a:latin typeface="Arial"/>
              </a:defRPr>
            </a:pPr>
            <a:r>
              <a:t>Compliance PDF Builder</a:t>
            </a:r>
          </a:p>
          <a:p>
            <a:pPr>
              <a:lnSpc>
                <a:spcPct val="120000"/>
              </a:lnSpc>
              <a:defRPr sz="1500">
                <a:solidFill>
                  <a:srgbClr val="94A3B8"/>
                </a:solidFill>
                <a:latin typeface="Arial"/>
              </a:defRPr>
            </a:pPr>
            <a:r>
              <a:t>Retrieves logs for chosen meetings and date boundaries. Renders a simulated compliance PDF directly inside the browser, containing official headers, summary blocks, and verify signatures.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64592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8FAFC"/>
                </a:solidFill>
                <a:latin typeface="Arial"/>
              </a:defRPr>
            </a:pPr>
            <a:r>
              <a:t>Blockchain Integrity Lock (M4 Integration)</a:t>
            </a:r>
          </a:p>
          <a:p>
            <a:pPr>
              <a:lnSpc>
                <a:spcPct val="120000"/>
              </a:lnSpc>
              <a:defRPr sz="1500">
                <a:solidFill>
                  <a:srgbClr val="94A3B8"/>
                </a:solidFill>
                <a:latin typeface="Arial"/>
              </a:defRPr>
            </a:pPr>
            <a:r>
              <a:t>M6 hashes the report file payload using SHA-256. This hash is committed to the blockchain, creating a read-only token seal. Anyone altering the database later fails verification checks.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2179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Slide 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0A5FA"/>
                </a:solidFill>
                <a:latin typeface="Arial"/>
              </a:defRPr>
            </a:pPr>
            <a:r>
              <a:t>Authorized Institutional Memory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8FAFC"/>
                </a:solidFill>
                <a:latin typeface="Arial"/>
              </a:defRPr>
            </a:pPr>
            <a:r>
              <a:t>FTS &amp; Relevance Rank Scoring</a:t>
            </a:r>
          </a:p>
          <a:p>
            <a:pPr>
              <a:lnSpc>
                <a:spcPct val="120000"/>
              </a:lnSpc>
              <a:defRPr sz="1500">
                <a:solidFill>
                  <a:srgbClr val="94A3B8"/>
                </a:solidFill>
                <a:latin typeface="Arial"/>
              </a:defRPr>
            </a:pPr>
            <a:r>
              <a:t>Enables users to search historical logs (e.g. 'budget decision'). Sorts results by relevance percentage match scores, displaying decision descriptions and attachments.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64592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8FAFC"/>
                </a:solidFill>
                <a:latin typeface="Arial"/>
              </a:defRPr>
            </a:pPr>
            <a:r>
              <a:t>Role-Based Access Control Filters</a:t>
            </a:r>
          </a:p>
          <a:p>
            <a:pPr>
              <a:lnSpc>
                <a:spcPct val="120000"/>
              </a:lnSpc>
              <a:defRPr sz="1500">
                <a:solidFill>
                  <a:srgbClr val="94A3B8"/>
                </a:solidFill>
                <a:latin typeface="Arial"/>
              </a:defRPr>
            </a:pPr>
            <a:r>
              <a:t>The search query automatically enforces: AND :user_role = ANY(authorized_roles). If the session user's role is not verified for the document, the record is dropped from results.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2179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Slide 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0A5FA"/>
                </a:solidFill>
                <a:latin typeface="Arial"/>
              </a:defRPr>
            </a:pPr>
            <a:r>
              <a:t>M6 Prototype Stack &amp;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8FAFC"/>
                </a:solidFill>
                <a:latin typeface="Arial"/>
              </a:defRPr>
            </a:pPr>
            <a:r>
              <a:t>Frontend &amp; Design (Tailwind v4)</a:t>
            </a:r>
          </a:p>
          <a:p>
            <a:pPr>
              <a:lnSpc>
                <a:spcPct val="120000"/>
              </a:lnSpc>
              <a:defRPr sz="1500">
                <a:solidFill>
                  <a:srgbClr val="94A3B8"/>
                </a:solidFill>
                <a:latin typeface="Arial"/>
              </a:defRPr>
            </a:pPr>
            <a:r>
              <a:t>React + Vite frontend dev stack. Uses a premium dark-navy theme (#0A0F1D), glassmorphism styles, Recharts analytics, and Lucide icons.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64592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8FAFC"/>
                </a:solidFill>
                <a:latin typeface="Arial"/>
              </a:defRPr>
            </a:pPr>
            <a:r>
              <a:t>Backend &amp; Presentation Guides</a:t>
            </a:r>
          </a:p>
          <a:p>
            <a:pPr>
              <a:lnSpc>
                <a:spcPct val="120000"/>
              </a:lnSpc>
              <a:defRPr sz="1500">
                <a:solidFill>
                  <a:srgbClr val="94A3B8"/>
                </a:solidFill>
                <a:latin typeface="Arial"/>
              </a:defRPr>
            </a:pPr>
            <a:r>
              <a:t>Express API server with mock databases. Features a floating Demo Controller walkthrough bar to guide evaluators through M6 specifications.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2179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Slide 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